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57" d="100"/>
          <a:sy n="57" d="100"/>
        </p:scale>
        <p:origin x="82" y="7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B17630-6B62-36E2-49CB-82E7E4DDD35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2468340-F2F1-DA33-9247-CF251E90DB5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7A6390-F46D-E4D1-B488-5EA24C0493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D03248-F17F-48B2-978B-C9CBF82884D4}" type="datetimeFigureOut">
              <a:rPr lang="en-IN" smtClean="0"/>
              <a:t>22-09-2026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567AF3-A4F0-4480-ADA7-2EF6E14C47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595B61-EF5B-C0D0-7060-230FD22816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BF56AC-7193-4BEB-A345-ECDFC2612E1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981698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BEAEA1-756F-2EEF-20C0-ED4CD52544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69BE91-DE95-732C-A602-CBEA647D0D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DED7AA-D4E0-7AEB-6FD6-01E700D544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D03248-F17F-48B2-978B-C9CBF82884D4}" type="datetimeFigureOut">
              <a:rPr lang="en-IN" smtClean="0"/>
              <a:t>22-09-2026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87DE03-FF6D-8C13-1854-463E7DCB3D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3FF496-92C9-B90E-6D63-001CDB510F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BF56AC-7193-4BEB-A345-ECDFC2612E1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022324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36776F-570D-F3E4-4121-ADE538CDF2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E2FC6C9-F244-B4D3-B75A-6E2851C06A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315948-EF43-29FF-127D-EDE74A066E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D03248-F17F-48B2-978B-C9CBF82884D4}" type="datetimeFigureOut">
              <a:rPr lang="en-IN" smtClean="0"/>
              <a:t>22-09-2026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DA2650-E28E-CAB9-8A55-CBAEC5F248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1C8686-1F23-6E1F-59C1-F973EAB776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BF56AC-7193-4BEB-A345-ECDFC2612E1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720014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732C13-00B9-815A-7B1E-4837C34D32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D6C9F2-6F20-5FE4-F5E2-75578F579BE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2BA7CEB-E221-AA3C-B80F-DAFD2FDCEDB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233ABD6-70A9-875C-8029-E6EDDB7856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D03248-F17F-48B2-978B-C9CBF82884D4}" type="datetimeFigureOut">
              <a:rPr lang="en-IN" smtClean="0"/>
              <a:t>22-09-2026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D1A6BE3-3207-3D85-B765-35B87E038E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948E2F8-4E45-6D0C-20C5-7B43F7FF66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BF56AC-7193-4BEB-A345-ECDFC2612E1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461643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9AAB36-1842-FAD9-8903-CB32996DE7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C5D7794-89DC-900A-EE84-D960A2507B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BFB46E5-55C6-87FF-6F82-345371E9A55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35B87BB-C213-D7BC-5E31-7DC1970009B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96CA192-E5C7-F892-F25A-B6AD74AEE2E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8383B4F-F0A9-CE05-B183-41B84A5A45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D03248-F17F-48B2-978B-C9CBF82884D4}" type="datetimeFigureOut">
              <a:rPr lang="en-IN" smtClean="0"/>
              <a:t>22-09-2026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08F60EA-2F1F-ADC8-FF43-BA6A20676A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EBDBE5E-A822-BCF6-6B82-E3BAF4B623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BF56AC-7193-4BEB-A345-ECDFC2612E1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910071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300AA7-1E89-47C2-7325-B7161D2AC9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BE8E20B-7BAE-C692-6953-E181270094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D03248-F17F-48B2-978B-C9CBF82884D4}" type="datetimeFigureOut">
              <a:rPr lang="en-IN" smtClean="0"/>
              <a:t>22-09-2026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EC8EADC-F6CF-F3E8-41F9-DBEFE18C4D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3859491-90E7-C43F-88CA-F2BEB1CB57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BF56AC-7193-4BEB-A345-ECDFC2612E1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7616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308A2FA-440F-D243-ACEC-4CA09C6BE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D03248-F17F-48B2-978B-C9CBF82884D4}" type="datetimeFigureOut">
              <a:rPr lang="en-IN" smtClean="0"/>
              <a:t>22-09-2026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D98E982-837F-B24D-7E07-A32B874963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523B30C-6A03-B548-C9F0-9066F29CF3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BF56AC-7193-4BEB-A345-ECDFC2612E1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088481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D59897-DAC5-14C4-CF3D-180B6A84ED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4FC0EC-63B4-5A27-F9D8-CF246F1927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A8E108-E4AC-BE63-AEE5-06DB6833228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6042808-2DD9-1D0F-DF5D-4760978648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D03248-F17F-48B2-978B-C9CBF82884D4}" type="datetimeFigureOut">
              <a:rPr lang="en-IN" smtClean="0"/>
              <a:t>22-09-2026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DB675A0-897A-99DD-6676-558E6CB0F2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5CE8441-27F6-6560-70BF-E03C560104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BF56AC-7193-4BEB-A345-ECDFC2612E1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894794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05CFA4-5658-D92C-5444-056DC6D874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ECF3AB4-0D16-0D17-E1CF-C95BA1021AC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8E15260-DF89-B65B-5382-1AA315412F5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51D1217-490F-B091-9E39-2E7040EC3D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D03248-F17F-48B2-978B-C9CBF82884D4}" type="datetimeFigureOut">
              <a:rPr lang="en-IN" smtClean="0"/>
              <a:t>22-09-2026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0B251BA-8E6F-CE81-2148-DB883E3621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E21A3C5-8B8C-5663-94FA-2EE878769D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BF56AC-7193-4BEB-A345-ECDFC2612E1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678161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D0B46E-4047-BBB5-3C15-33230B09C7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E5741A5-9389-59A4-0315-0CE19C88D52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559B14-A9FD-2566-DB3C-69B07AE103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D03248-F17F-48B2-978B-C9CBF82884D4}" type="datetimeFigureOut">
              <a:rPr lang="en-IN" smtClean="0"/>
              <a:t>22-09-2026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ECDE13-6806-E52C-3BFB-90A4EA24A2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66E0F6-31DF-17BB-26DE-9C333CA84A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BF56AC-7193-4BEB-A345-ECDFC2612E1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553536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0C69A6D-04FC-301F-8F93-77D63630758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44E3244-BE3F-A5F5-3652-1537E09FE70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40555A-2D1B-EF3E-1E36-2367F18A4B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D03248-F17F-48B2-978B-C9CBF82884D4}" type="datetimeFigureOut">
              <a:rPr lang="en-IN" smtClean="0"/>
              <a:t>22-09-2026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4E93D0-4EC7-F9A9-B2AA-4568BFED26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B28E9E-E4F4-22CF-49DB-E0BFF958ED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BF56AC-7193-4BEB-A345-ECDFC2612E1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067773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2790D09-E9D0-E58F-9C60-08E78D5575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E8AC32-948C-F89F-9211-E2B5CD6EE8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016990-DF63-BF95-C001-86C8378B82A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AD03248-F17F-48B2-978B-C9CBF82884D4}" type="datetimeFigureOut">
              <a:rPr lang="en-IN" smtClean="0"/>
              <a:t>22-09-2026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794A15-ED18-35BB-A4FB-A0AE21849C4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1FB46D-89CF-F25D-08FD-7C0339A33C3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4BF56AC-7193-4BEB-A345-ECDFC2612E1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310724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482F37-B277-C61B-2A23-CE036A90FE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79383" y="406400"/>
            <a:ext cx="9144000" cy="2387600"/>
          </a:xfrm>
        </p:spPr>
        <p:txBody>
          <a:bodyPr/>
          <a:lstStyle/>
          <a:p>
            <a:r>
              <a:rPr lang="en-IN" dirty="0"/>
              <a:t>CSAT Analytics Dashboard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B4D3D57-AB4D-9AF1-8AE9-D5B13FE425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36904" y="4499747"/>
            <a:ext cx="9144000" cy="1655762"/>
          </a:xfrm>
        </p:spPr>
        <p:txBody>
          <a:bodyPr>
            <a:normAutofit lnSpcReduction="10000"/>
          </a:bodyPr>
          <a:lstStyle/>
          <a:p>
            <a:r>
              <a:rPr lang="en-US" dirty="0"/>
              <a:t>Customer Satisfaction Analysis — 32,942</a:t>
            </a:r>
          </a:p>
          <a:p>
            <a:r>
              <a:rPr lang="en-US" dirty="0"/>
              <a:t>Calls Optimizing Service Experience</a:t>
            </a:r>
          </a:p>
          <a:p>
            <a:r>
              <a:rPr lang="en-US" dirty="0"/>
              <a:t>Dataset: 32,942 Records × 12 Columns </a:t>
            </a:r>
          </a:p>
          <a:p>
            <a:r>
              <a:rPr lang="en-US" dirty="0"/>
              <a:t>Tools: Power BI / Tableau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367393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384FE7B-D0D3-F08C-80B2-24C4C1BC1FF6}"/>
              </a:ext>
            </a:extLst>
          </p:cNvPr>
          <p:cNvSpPr txBox="1"/>
          <p:nvPr/>
        </p:nvSpPr>
        <p:spPr>
          <a:xfrm>
            <a:off x="748717" y="327063"/>
            <a:ext cx="609460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b="1" dirty="0"/>
              <a:t>SLIDE 2: Dataset Overview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BB4283F-43F0-0BCE-C342-54393B074F12}"/>
              </a:ext>
            </a:extLst>
          </p:cNvPr>
          <p:cNvSpPr txBox="1"/>
          <p:nvPr/>
        </p:nvSpPr>
        <p:spPr>
          <a:xfrm>
            <a:off x="689994" y="1241138"/>
            <a:ext cx="6094602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"This dataset has 32,942 records and 12 columns. The goal is to identify patterns to optimize customer service. Key columns are CSAT_ score 1-5, sentiment, call _ timestamp, reason like billing/technical, channel phone/chat/email, response _ time and call _ duration."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D277892-34C7-9485-270A-A25CA823889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5226" y="2617365"/>
            <a:ext cx="10963732" cy="40644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56882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39B4167-51F1-71B9-C443-D32A04B96580}"/>
              </a:ext>
            </a:extLst>
          </p:cNvPr>
          <p:cNvSpPr txBox="1"/>
          <p:nvPr/>
        </p:nvSpPr>
        <p:spPr>
          <a:xfrm>
            <a:off x="379602" y="243173"/>
            <a:ext cx="609460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b="1" dirty="0"/>
              <a:t>SLIDE 3: Line Chart — Call Trends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032EC81-DE73-3167-FD44-34268CD6F964}"/>
              </a:ext>
            </a:extLst>
          </p:cNvPr>
          <p:cNvSpPr txBox="1"/>
          <p:nvPr/>
        </p:nvSpPr>
        <p:spPr>
          <a:xfrm>
            <a:off x="446714" y="766393"/>
            <a:ext cx="6094602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Monthly trend: Jan 2100 → Dec 4100 — 95% growth, nearly double!</a:t>
            </a:r>
          </a:p>
          <a:p>
            <a:r>
              <a:rPr lang="en-US" dirty="0"/>
              <a:t>Daily trend: Monday 6200 busiest, Friday 4200 lowest</a:t>
            </a:r>
          </a:p>
          <a:p>
            <a:r>
              <a:rPr lang="en-US" dirty="0"/>
              <a:t>Peak in Dec = holiday season issue</a:t>
            </a:r>
            <a:endParaRPr lang="en-IN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9632921-B1E1-E5C7-AE74-7EE595C4D32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2946" y="1966722"/>
            <a:ext cx="11646716" cy="47541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70138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28D8EFF-398C-887E-FD37-9708DAFF36C5}"/>
              </a:ext>
            </a:extLst>
          </p:cNvPr>
          <p:cNvSpPr txBox="1"/>
          <p:nvPr/>
        </p:nvSpPr>
        <p:spPr>
          <a:xfrm>
            <a:off x="362824" y="276729"/>
            <a:ext cx="732149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b="1" dirty="0"/>
              <a:t>SLIDE 4: Doughnut Chart — Call Channel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E77DED3-526D-1CBB-E994-17F0F343C515}"/>
              </a:ext>
            </a:extLst>
          </p:cNvPr>
          <p:cNvSpPr txBox="1"/>
          <p:nvPr/>
        </p:nvSpPr>
        <p:spPr>
          <a:xfrm>
            <a:off x="463490" y="972852"/>
            <a:ext cx="6314813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As per your doc task "Doughnut chart for call channel": </a:t>
            </a:r>
          </a:p>
          <a:p>
            <a:r>
              <a:rPr lang="en-IN" dirty="0"/>
              <a:t>Phone 60% = 19,765</a:t>
            </a:r>
          </a:p>
          <a:p>
            <a:r>
              <a:rPr lang="en-IN" dirty="0"/>
              <a:t> calls — dominant</a:t>
            </a:r>
          </a:p>
          <a:p>
            <a:r>
              <a:rPr lang="en-IN" dirty="0"/>
              <a:t>Chat 25% = 8,236 calls — highest CSAT 4.2/5!</a:t>
            </a:r>
          </a:p>
          <a:p>
            <a:r>
              <a:rPr lang="en-IN" dirty="0"/>
              <a:t>Email 15% = 4,941 emails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398E2BC-69DE-14CC-CE24-AC07BD441E0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3490" y="2623083"/>
            <a:ext cx="10073127" cy="42349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77212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1988199-04E8-0465-50EB-0970D41DC64B}"/>
              </a:ext>
            </a:extLst>
          </p:cNvPr>
          <p:cNvSpPr txBox="1"/>
          <p:nvPr/>
        </p:nvSpPr>
        <p:spPr>
          <a:xfrm>
            <a:off x="69209" y="545176"/>
            <a:ext cx="609460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b="1" dirty="0"/>
              <a:t>SLIDE 5: Map + Column Chart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655311B-DB04-F7F3-E8E0-4E1C368B5917}"/>
              </a:ext>
            </a:extLst>
          </p:cNvPr>
          <p:cNvSpPr txBox="1"/>
          <p:nvPr/>
        </p:nvSpPr>
        <p:spPr>
          <a:xfrm>
            <a:off x="69209" y="1445886"/>
            <a:ext cx="640080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As per doc "Map for geographical location and Column Chart":</a:t>
            </a:r>
          </a:p>
          <a:p>
            <a:r>
              <a:rPr lang="en-IN" dirty="0"/>
              <a:t>Map: CA 5,200 highest, TX 4,100, FL 3,800</a:t>
            </a:r>
          </a:p>
          <a:p>
            <a:r>
              <a:rPr lang="en-IN" dirty="0"/>
              <a:t>Column : Billing 35% = 11,529 — Top reason !</a:t>
            </a:r>
          </a:p>
          <a:p>
            <a:r>
              <a:rPr lang="en-IN" dirty="0"/>
              <a:t>Insight: Product Inquiry CSAT 88% highest, Service Outage 65% lowest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4B17078-7DF5-AB2E-9EE7-03F0991F809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5494" y="3071804"/>
            <a:ext cx="11681012" cy="37861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20108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0C7B272-F0D6-632E-CD9B-4DE68C411A80}"/>
              </a:ext>
            </a:extLst>
          </p:cNvPr>
          <p:cNvSpPr txBox="1"/>
          <p:nvPr/>
        </p:nvSpPr>
        <p:spPr>
          <a:xfrm>
            <a:off x="198344" y="218746"/>
            <a:ext cx="746648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b="1" dirty="0"/>
              <a:t>SLIDE 6: Bar Chart — Response Time vs CSAT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5A6696E-6704-F449-DC92-22DB8072ED28}"/>
              </a:ext>
            </a:extLst>
          </p:cNvPr>
          <p:cNvSpPr txBox="1"/>
          <p:nvPr/>
        </p:nvSpPr>
        <p:spPr>
          <a:xfrm>
            <a:off x="426943" y="1000036"/>
            <a:ext cx="6699997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As per doc "Create a bar chart for Response Time / Reason":</a:t>
            </a:r>
          </a:p>
          <a:p>
            <a:r>
              <a:rPr lang="en-IN" dirty="0"/>
              <a:t>&lt;5 min = CSAT 4.5 highest!</a:t>
            </a:r>
          </a:p>
          <a:p>
            <a:r>
              <a:rPr lang="en-IN" dirty="0"/>
              <a:t>&gt;20 min = CSAT 2.8 lowest — drops 38%</a:t>
            </a:r>
          </a:p>
          <a:p>
            <a:r>
              <a:rPr lang="en-IN" dirty="0"/>
              <a:t>Service Outage 18.5 min worst, Product Inquiry 3.2 min best</a:t>
            </a:r>
          </a:p>
          <a:p>
            <a:r>
              <a:rPr lang="en-IN" dirty="0"/>
              <a:t>Overall </a:t>
            </a:r>
            <a:r>
              <a:rPr lang="en-IN" dirty="0" err="1"/>
              <a:t>Avg</a:t>
            </a:r>
            <a:r>
              <a:rPr lang="en-IN" dirty="0"/>
              <a:t> 8.5 min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4356E18-674A-77AC-FB6F-CD87177A41D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8564" y="2477364"/>
            <a:ext cx="10601725" cy="41225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16716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421566C-B568-5EFA-739E-7AD2217B389B}"/>
              </a:ext>
            </a:extLst>
          </p:cNvPr>
          <p:cNvSpPr txBox="1"/>
          <p:nvPr/>
        </p:nvSpPr>
        <p:spPr>
          <a:xfrm>
            <a:off x="305920" y="393558"/>
            <a:ext cx="686136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b="1"/>
              <a:t>SLIDE 7 — YOUR MOST IMPORTANT SLIDE </a:t>
            </a:r>
            <a:endParaRPr lang="en-IN" sz="2800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C0E83D9-DE21-0749-416B-3D140D5B8ED3}"/>
              </a:ext>
            </a:extLst>
          </p:cNvPr>
          <p:cNvSpPr txBox="1"/>
          <p:nvPr/>
        </p:nvSpPr>
        <p:spPr>
          <a:xfrm>
            <a:off x="211791" y="916778"/>
            <a:ext cx="6861360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This slide = 80% marks! Learn this by heart:</a:t>
            </a:r>
          </a:p>
          <a:p>
            <a:r>
              <a:rPr lang="en-IN" dirty="0"/>
              <a:t>5 KPIs: 32,942 calls | CSAT 3.9/5 | Response 8.5 min | Duration 12.3 min</a:t>
            </a:r>
          </a:p>
          <a:p>
            <a:r>
              <a:rPr lang="en-IN" dirty="0"/>
              <a:t> INSIGHTS:</a:t>
            </a:r>
          </a:p>
          <a:p>
            <a:r>
              <a:rPr lang="en-IN" dirty="0"/>
              <a:t> Volume up 95% Jan-Dec</a:t>
            </a:r>
          </a:p>
          <a:p>
            <a:r>
              <a:rPr lang="en-IN" dirty="0"/>
              <a:t>Chat CSAT 4.2 best, but Phone is 60%</a:t>
            </a:r>
          </a:p>
          <a:p>
            <a:r>
              <a:rPr lang="en-IN" dirty="0"/>
              <a:t>Billing 35% = 11,529 top reason</a:t>
            </a:r>
          </a:p>
          <a:p>
            <a:r>
              <a:rPr lang="en-IN" dirty="0"/>
              <a:t>&lt;5 min = 4.5 CSAT, &gt;20 min = 2.8 CSAT</a:t>
            </a:r>
          </a:p>
          <a:p>
            <a:r>
              <a:rPr lang="en-IN" dirty="0"/>
              <a:t>CA 5200 highest, Outage worst CSAT 65% &amp; response 18.5 min5 SUGGESTIONS (Action Plan):</a:t>
            </a:r>
          </a:p>
          <a:p>
            <a:r>
              <a:rPr lang="en-IN" dirty="0"/>
              <a:t>Promote Chat</a:t>
            </a:r>
          </a:p>
          <a:p>
            <a:r>
              <a:rPr lang="en-IN" dirty="0"/>
              <a:t>Self-service for Billing</a:t>
            </a:r>
          </a:p>
          <a:p>
            <a:r>
              <a:rPr lang="en-IN" dirty="0"/>
              <a:t>SLA &lt;5 min target 4.3+ CSAT</a:t>
            </a:r>
          </a:p>
          <a:p>
            <a:r>
              <a:rPr lang="en-IN" dirty="0"/>
              <a:t>Dedicated Outage Team</a:t>
            </a:r>
          </a:p>
          <a:p>
            <a:r>
              <a:rPr lang="en-IN" dirty="0"/>
              <a:t>Extra staff Monday &amp; Dec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EE9EF5D-3D89-83D0-6A0D-5B5A971385B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61410" y="750994"/>
            <a:ext cx="5118849" cy="44131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46257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78DB621-1764-1347-42E3-1CC65AD4CD1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3082" y="342900"/>
            <a:ext cx="11725836" cy="6172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457402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399</Words>
  <Application>Microsoft Office PowerPoint</Application>
  <PresentationFormat>Widescreen</PresentationFormat>
  <Paragraphs>42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Aptos</vt:lpstr>
      <vt:lpstr>Aptos Display</vt:lpstr>
      <vt:lpstr>Arial</vt:lpstr>
      <vt:lpstr>Office Theme</vt:lpstr>
      <vt:lpstr>CSAT Analytics Dashboard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rudrapuravali@outlook.com</dc:creator>
  <cp:lastModifiedBy>rudrapuravali@outlook.com</cp:lastModifiedBy>
  <cp:revision>1</cp:revision>
  <dcterms:created xsi:type="dcterms:W3CDTF">2026-09-22T16:34:02Z</dcterms:created>
  <dcterms:modified xsi:type="dcterms:W3CDTF">2026-09-22T16:34:02Z</dcterms:modified>
</cp:coreProperties>
</file>